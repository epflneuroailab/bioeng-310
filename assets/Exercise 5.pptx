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58" r:id="rId7"/>
    <p:sldId id="265" r:id="rId8"/>
    <p:sldId id="268" r:id="rId9"/>
    <p:sldId id="26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3A74-9C35-C7B4-4830-8C73D6E7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3C692-B866-2BE9-29C5-7A7776358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67411-D216-AF12-E75B-F6934174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85E4D-1C2D-00D4-D934-C067BC69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95612-B020-EACF-5C02-6F61ADD8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02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C7FC-2E70-ED33-AD23-00042C7E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36A1-036C-A4A7-8DF8-1C415E999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5A61-D981-4A0F-38FC-086AEADF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C2BEF-F2F8-BE7A-2388-BF46A22FD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E3679-644F-D94B-D6AB-F940F3AB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2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7478-896A-CA60-5185-88744888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B5C8D-AACD-EA66-EFEC-C1BED48E4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8C01F-82B8-C552-7960-89C1D2A0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EDDC-D71A-78D3-FC98-6B715641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2C9DA-54B3-7A00-4527-FA24F266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7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B5EF3-847A-B352-8D5D-39A843F9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5090-6152-6282-1125-6C2B5D4F8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14739-9E76-9736-6987-B6C2D0AAB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3D36E-CA0C-6998-763D-65C40D0C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5FFE5-C4BD-B20D-93F8-541FC535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8C173-0957-54FD-543B-A3CEE46E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5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1319-2D58-89D5-1973-2D0BB144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CFB62-D8D8-89C8-367D-2DA13BF2D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E59D7-7BDE-1ED8-8127-D3B0F0A4E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3FD09-488D-7F44-2288-9DEAE3832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1A3F4-2DCE-D8BE-1962-AD9E5AE6E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F6566-B289-94EA-3C52-649F7F1C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06E75-4C0F-A313-6B1B-B73A5F46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07C09-67CA-E8DB-C5FC-1782D75F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5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D680-BC0E-E8FB-2C32-B03DC6B3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78471-C8FA-1FAE-F282-9549393E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7A070-FD2C-C65A-7F9F-32BADFD3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77B32-C291-C7D9-0C81-1BF576EB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7D8A6-F87D-0CBF-F6CB-45C2C16D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88472-AE0C-885E-620C-25D43270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DD9B2-239C-5AEC-02E4-06815CA1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8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8414-83B1-F0E4-52B9-DED90EF3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E7D9-B934-99E6-8772-CD5F346F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AE4CC-A387-B051-EB12-4EB9683EB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B406E-EB2C-CF95-6CA9-12DA5AFB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43F28-52C5-3670-DC11-9D8AA56B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D5DA-6120-D770-8B7E-4425F291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2755-EBB9-1A8B-AE13-EFC7771A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0CCEA-0D3E-DBBC-8AD0-14BE4D66A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1A6BD-5C84-A5E3-5984-63709BC7C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A1AE0-8811-CC29-09CC-43E9F196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01A77-FA0F-2026-A620-3D4971EA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B1D48-7870-037E-E50D-A5FE9707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0504-7EC6-69D8-C1C7-50A9FC4E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69683-123F-2A76-1065-0C61CEE9D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3724-B8EE-CB6E-FBB9-14E7C5DF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C9F54-9C2E-2DC6-EA8C-6CFCCE67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36CD4-68ED-6116-2E3A-9494F098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5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5AFD12-8285-160E-4C42-1941FF907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A05B8-017F-71A3-E6DE-DE78E5FDC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6CAC6-9F9A-9DEC-B1A0-67981204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96BE0-37BD-CEC6-00C8-1978289F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90C66-D77C-2D69-6929-989E9E16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2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8B5179-95DF-1BA2-7F6C-034E6CA6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9F2A2-00EA-CFF5-C4DA-67E81F043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D3CC-AE54-903D-3770-08563883A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D1529-D79D-45BB-9518-93D4D9B0C0D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18368-2F39-0E9A-FEF0-CB1B0881C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38CF-59E4-45CF-5278-69694A820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B042F-24D6-459F-842C-A899E77C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4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187E-021C-C91A-6FE4-5747124D2E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4930B-CDC8-08DD-495F-9D8138534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BIOENG-310: Neuroscience Foundations for Engineers</a:t>
            </a:r>
          </a:p>
          <a:p>
            <a:r>
              <a:rPr lang="en-US" sz="2000" dirty="0" err="1"/>
              <a:t>Yingtian</a:t>
            </a:r>
            <a:r>
              <a:rPr lang="en-US" sz="2000" dirty="0"/>
              <a:t> </a:t>
            </a:r>
            <a:r>
              <a:rPr lang="en-US" sz="2000" dirty="0" err="1"/>
              <a:t>Tiang</a:t>
            </a:r>
            <a:endParaRPr lang="en-US" sz="2000" dirty="0"/>
          </a:p>
          <a:p>
            <a:r>
              <a:rPr lang="en-US" sz="2000" dirty="0"/>
              <a:t>Alejandro Rodriguez Guajardo</a:t>
            </a:r>
          </a:p>
          <a:p>
            <a:r>
              <a:rPr lang="en-US" sz="2000" dirty="0"/>
              <a:t>Aude Maier</a:t>
            </a:r>
          </a:p>
        </p:txBody>
      </p:sp>
    </p:spTree>
    <p:extLst>
      <p:ext uri="{BB962C8B-B14F-4D97-AF65-F5344CB8AC3E}">
        <p14:creationId xmlns:p14="http://schemas.microsoft.com/office/powerpoint/2010/main" val="341176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6552-2277-6A31-F792-5B209CBB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of the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7752-D959-F828-9FB2-B21614AE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will use a dataset from </a:t>
            </a:r>
            <a:r>
              <a:rPr lang="en-US" b="0" i="0" dirty="0">
                <a:effectLst/>
                <a:latin typeface="Roboto" panose="02000000000000000000" pitchFamily="2" charset="0"/>
              </a:rPr>
              <a:t>Freeman &amp; Ziemba, 2013, </a:t>
            </a:r>
            <a:r>
              <a:rPr lang="en-US" dirty="0"/>
              <a:t>a study on V1 and V2 responses to visual textures in macaque monkeys.</a:t>
            </a:r>
          </a:p>
          <a:p>
            <a:endParaRPr lang="en-US" dirty="0"/>
          </a:p>
          <a:p>
            <a:r>
              <a:rPr lang="en-US" b="1" dirty="0"/>
              <a:t>Objective: </a:t>
            </a:r>
            <a:r>
              <a:rPr lang="en-US" dirty="0"/>
              <a:t>Learn how to manipulate and interpret neural response data.</a:t>
            </a:r>
          </a:p>
        </p:txBody>
      </p:sp>
    </p:spTree>
    <p:extLst>
      <p:ext uri="{BB962C8B-B14F-4D97-AF65-F5344CB8AC3E}">
        <p14:creationId xmlns:p14="http://schemas.microsoft.com/office/powerpoint/2010/main" val="394102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33C5-769E-FC41-4B34-F05E4B10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66BF-4D92-C6A4-9E87-2BD97BD4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 visual cortex V1 and V2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C4813-5EE8-919C-E20F-9EAB178D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848" y="2171959"/>
            <a:ext cx="4350099" cy="3621446"/>
          </a:xfrm>
        </p:spPr>
        <p:txBody>
          <a:bodyPr>
            <a:normAutofit/>
          </a:bodyPr>
          <a:lstStyle/>
          <a:p>
            <a:r>
              <a:rPr lang="en-US" sz="3200" b="1" dirty="0"/>
              <a:t>V1</a:t>
            </a:r>
            <a:r>
              <a:rPr lang="en-US" sz="2400" dirty="0"/>
              <a:t> → Detects basic visual features: edges, orientation, contrast. </a:t>
            </a:r>
            <a:r>
              <a:rPr lang="en-US" sz="2400" b="1" dirty="0"/>
              <a:t>Simple feature detection</a:t>
            </a:r>
            <a:br>
              <a:rPr lang="en-US" sz="2400" b="1" dirty="0"/>
            </a:br>
            <a:endParaRPr lang="en-US" sz="2400" b="1" dirty="0"/>
          </a:p>
          <a:p>
            <a:r>
              <a:rPr lang="en-US" sz="3200" b="1" dirty="0"/>
              <a:t>V2</a:t>
            </a:r>
            <a:r>
              <a:rPr lang="en-US" sz="2400" dirty="0"/>
              <a:t> → Builds on V1 information to detect </a:t>
            </a:r>
            <a:r>
              <a:rPr lang="en-US" sz="2400" b="1" dirty="0"/>
              <a:t>textures and complex patterns</a:t>
            </a:r>
            <a:r>
              <a:rPr lang="en-US" sz="2400" dirty="0"/>
              <a:t>. </a:t>
            </a:r>
          </a:p>
        </p:txBody>
      </p:sp>
      <p:pic>
        <p:nvPicPr>
          <p:cNvPr id="2050" name="Picture 2" descr="Higher-order visual pathways and the CVI brain – Perkins School for the  Blind">
            <a:extLst>
              <a:ext uri="{FF2B5EF4-FFF2-40B4-BE49-F238E27FC236}">
                <a16:creationId xmlns:a16="http://schemas.microsoft.com/office/drawing/2014/main" id="{EB12FB67-F67B-C4ED-18EA-EE391889D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31" y="1690688"/>
            <a:ext cx="5823857" cy="410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01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D580-A1EA-10B0-EA0D-A129CEF4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DB1C-8397-9DF6-7F7B-A05CA1AC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3C59F-1FD1-1C9C-BC41-56424440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834" y="1905680"/>
            <a:ext cx="5990034" cy="4351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Subjects: </a:t>
            </a:r>
            <a:r>
              <a:rPr lang="en-US" altLang="en-US" dirty="0"/>
              <a:t>Macaque monkeys.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Stimuli: </a:t>
            </a:r>
            <a:r>
              <a:rPr lang="en-US" altLang="en-US" dirty="0"/>
              <a:t>Synthetic images were generated to match natural textures or contain randomized noise.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Find Out What Turns a Monkey On">
            <a:extLst>
              <a:ext uri="{FF2B5EF4-FFF2-40B4-BE49-F238E27FC236}">
                <a16:creationId xmlns:a16="http://schemas.microsoft.com/office/drawing/2014/main" id="{5DF6E7FC-4170-9D1F-5A0E-49A712651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71" y="1083581"/>
            <a:ext cx="2143650" cy="21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658C1A9-4A9C-38C3-456D-ECE758D87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30"/>
          <a:stretch/>
        </p:blipFill>
        <p:spPr bwMode="auto">
          <a:xfrm>
            <a:off x="7736393" y="3516993"/>
            <a:ext cx="3617407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9E3933D-40DC-39BE-C9E7-077531122B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35" r="39835"/>
          <a:stretch/>
        </p:blipFill>
        <p:spPr bwMode="auto">
          <a:xfrm>
            <a:off x="7686150" y="4645706"/>
            <a:ext cx="3697795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66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36DF-5DA4-8F18-56FB-97A00DE9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C500D8-5B82-108C-91BC-2A6836933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435" y="1211188"/>
            <a:ext cx="4029836" cy="356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D9F7C-4092-7D64-0076-24C1E192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4923-E61D-E5A1-5220-21C9646A2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054" y="2275904"/>
            <a:ext cx="5666714" cy="4351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Electrophysiological recordings: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everal microelectrodes implanted in the V1 and V2 cortex.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electrodes are used to record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Local Field Potentials (LFP)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BF19C-60C7-DC87-7FA7-B33CB8F5E1B0}"/>
              </a:ext>
            </a:extLst>
          </p:cNvPr>
          <p:cNvSpPr txBox="1"/>
          <p:nvPr/>
        </p:nvSpPr>
        <p:spPr>
          <a:xfrm>
            <a:off x="7845305" y="4837646"/>
            <a:ext cx="2409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102 recording sites!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767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7C4C-F81A-DEA1-B8E3-7DC60E65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99E1-DE4B-5029-E8A0-2852996F9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8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Data by Freeman &amp; Ziemba et al. 2013, packaged into the Brain-Score platform.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97E3E6C0-DDF8-FD55-86CC-3EA89819320E}"/>
              </a:ext>
            </a:extLst>
          </p:cNvPr>
          <p:cNvSpPr/>
          <p:nvPr/>
        </p:nvSpPr>
        <p:spPr>
          <a:xfrm>
            <a:off x="3298719" y="2433482"/>
            <a:ext cx="3569109" cy="2050025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A60A7-3F78-97F3-477B-37753A1357DA}"/>
              </a:ext>
            </a:extLst>
          </p:cNvPr>
          <p:cNvSpPr txBox="1"/>
          <p:nvPr/>
        </p:nvSpPr>
        <p:spPr>
          <a:xfrm>
            <a:off x="6571527" y="4144953"/>
            <a:ext cx="1012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67C84-87CC-4C84-9E5D-05417A108854}"/>
              </a:ext>
            </a:extLst>
          </p:cNvPr>
          <p:cNvSpPr txBox="1"/>
          <p:nvPr/>
        </p:nvSpPr>
        <p:spPr>
          <a:xfrm>
            <a:off x="6867828" y="3004808"/>
            <a:ext cx="1012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55B9B-0DE8-B3FE-F668-40EE75F3F425}"/>
              </a:ext>
            </a:extLst>
          </p:cNvPr>
          <p:cNvSpPr txBox="1"/>
          <p:nvPr/>
        </p:nvSpPr>
        <p:spPr>
          <a:xfrm>
            <a:off x="7408395" y="4214644"/>
            <a:ext cx="2633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 neural recording sites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C6F94-50D6-A974-6CEA-DDB856E7890A}"/>
              </a:ext>
            </a:extLst>
          </p:cNvPr>
          <p:cNvSpPr txBox="1"/>
          <p:nvPr/>
        </p:nvSpPr>
        <p:spPr>
          <a:xfrm>
            <a:off x="7707156" y="3068011"/>
            <a:ext cx="2633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ms</a:t>
            </a:r>
            <a:r>
              <a:rPr lang="en-US" sz="2000" dirty="0"/>
              <a:t> of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0C055-9788-AC98-188A-96DD735B2CF5}"/>
              </a:ext>
            </a:extLst>
          </p:cNvPr>
          <p:cNvSpPr txBox="1"/>
          <p:nvPr/>
        </p:nvSpPr>
        <p:spPr>
          <a:xfrm>
            <a:off x="4331105" y="4614754"/>
            <a:ext cx="1012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2700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ED0204-C183-CDB6-AF3B-21E944CA9BED}"/>
              </a:ext>
            </a:extLst>
          </p:cNvPr>
          <p:cNvSpPr txBox="1"/>
          <p:nvPr/>
        </p:nvSpPr>
        <p:spPr>
          <a:xfrm>
            <a:off x="3298613" y="5100432"/>
            <a:ext cx="30777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Repetitions of the experiment (Presentations)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14ACF-AE52-78AA-2836-66F3E2617F04}"/>
              </a:ext>
            </a:extLst>
          </p:cNvPr>
          <p:cNvSpPr txBox="1"/>
          <p:nvPr/>
        </p:nvSpPr>
        <p:spPr>
          <a:xfrm>
            <a:off x="8257032" y="5432547"/>
            <a:ext cx="38675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 Question: How do V1 and V2 respond differently to naturalistic textures?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2496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A4F7-5070-F6E5-9FB6-453F5531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3923-8F74-E914-DCE9-63000072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Download the dataset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Access and visualize the different stimulus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Access and visualize the neural data</a:t>
            </a:r>
          </a:p>
          <a:p>
            <a:pPr>
              <a:lnSpc>
                <a:spcPct val="150000"/>
              </a:lnSpc>
            </a:pPr>
            <a:r>
              <a:rPr lang="en-US" sz="3200" b="1" dirty="0"/>
              <a:t>Apply Linear readout / linear probing to sort the data</a:t>
            </a:r>
          </a:p>
        </p:txBody>
      </p:sp>
    </p:spTree>
    <p:extLst>
      <p:ext uri="{BB962C8B-B14F-4D97-AF65-F5344CB8AC3E}">
        <p14:creationId xmlns:p14="http://schemas.microsoft.com/office/powerpoint/2010/main" val="2572541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86A9-3C54-6EFF-785C-7ED13ABA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Retrieve</a:t>
            </a:r>
            <a:r>
              <a:rPr lang="fr-CH" dirty="0"/>
              <a:t> image type </a:t>
            </a:r>
            <a:r>
              <a:rPr lang="fr-CH" dirty="0" err="1"/>
              <a:t>from</a:t>
            </a:r>
            <a:r>
              <a:rPr lang="fr-CH" dirty="0"/>
              <a:t> LFP</a:t>
            </a:r>
          </a:p>
        </p:txBody>
      </p:sp>
      <p:pic>
        <p:nvPicPr>
          <p:cNvPr id="4" name="Picture 3" descr="Local Field Potentials: LFP | SpringerLink">
            <a:extLst>
              <a:ext uri="{FF2B5EF4-FFF2-40B4-BE49-F238E27FC236}">
                <a16:creationId xmlns:a16="http://schemas.microsoft.com/office/drawing/2014/main" id="{1A86CBA7-33F0-D557-E80D-8D9D9F565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7" t="31791" r="1" b="45837"/>
          <a:stretch>
            <a:fillRect/>
          </a:stretch>
        </p:blipFill>
        <p:spPr bwMode="auto">
          <a:xfrm>
            <a:off x="1588008" y="3077910"/>
            <a:ext cx="4996543" cy="14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A41741-CD10-1ABA-8861-E9E63EC321F4}"/>
              </a:ext>
            </a:extLst>
          </p:cNvPr>
          <p:cNvCxnSpPr/>
          <p:nvPr/>
        </p:nvCxnSpPr>
        <p:spPr>
          <a:xfrm flipV="1">
            <a:off x="7070054" y="2960914"/>
            <a:ext cx="1153885" cy="729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78E22A-5BAA-E0A7-2499-9F246C31BA3D}"/>
              </a:ext>
            </a:extLst>
          </p:cNvPr>
          <p:cNvCxnSpPr>
            <a:cxnSpLocks/>
          </p:cNvCxnSpPr>
          <p:nvPr/>
        </p:nvCxnSpPr>
        <p:spPr>
          <a:xfrm>
            <a:off x="7070053" y="4052097"/>
            <a:ext cx="1153886" cy="748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4">
            <a:extLst>
              <a:ext uri="{FF2B5EF4-FFF2-40B4-BE49-F238E27FC236}">
                <a16:creationId xmlns:a16="http://schemas.microsoft.com/office/drawing/2014/main" id="{931B25D2-4AEC-51A9-F86E-3D48D4A04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8" r="80408"/>
          <a:stretch>
            <a:fillRect/>
          </a:stretch>
        </p:blipFill>
        <p:spPr bwMode="auto">
          <a:xfrm>
            <a:off x="8709442" y="2396557"/>
            <a:ext cx="1153886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20FB1B08-479D-FA01-2E2C-CA8F541AE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97" r="50239"/>
          <a:stretch>
            <a:fillRect/>
          </a:stretch>
        </p:blipFill>
        <p:spPr bwMode="auto">
          <a:xfrm>
            <a:off x="8709442" y="4343954"/>
            <a:ext cx="1153886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10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59EA-5478-2A2B-B585-266334F0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70192" cy="1325563"/>
          </a:xfrm>
        </p:spPr>
        <p:txBody>
          <a:bodyPr/>
          <a:lstStyle/>
          <a:p>
            <a:r>
              <a:rPr lang="fr-CH" dirty="0"/>
              <a:t>Train </a:t>
            </a:r>
            <a:r>
              <a:rPr lang="fr-CH" dirty="0" err="1"/>
              <a:t>linear</a:t>
            </a:r>
            <a:r>
              <a:rPr lang="fr-CH" dirty="0"/>
              <a:t> classifier</a:t>
            </a:r>
          </a:p>
        </p:txBody>
      </p:sp>
      <p:pic>
        <p:nvPicPr>
          <p:cNvPr id="4" name="Picture 3" descr="Local Field Potentials: LFP | SpringerLink">
            <a:extLst>
              <a:ext uri="{FF2B5EF4-FFF2-40B4-BE49-F238E27FC236}">
                <a16:creationId xmlns:a16="http://schemas.microsoft.com/office/drawing/2014/main" id="{DB9C3274-44E7-8E57-8527-5A7BA8ED80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7" t="31791" r="1" b="45837"/>
          <a:stretch>
            <a:fillRect/>
          </a:stretch>
        </p:blipFill>
        <p:spPr bwMode="auto">
          <a:xfrm>
            <a:off x="838200" y="3475456"/>
            <a:ext cx="4181421" cy="14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9DDB7A83-7264-9467-FA32-50902A9BF197}"/>
              </a:ext>
            </a:extLst>
          </p:cNvPr>
          <p:cNvSpPr/>
          <p:nvPr/>
        </p:nvSpPr>
        <p:spPr>
          <a:xfrm>
            <a:off x="5225143" y="3502888"/>
            <a:ext cx="206828" cy="146015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23BE6-795E-BAB7-91C4-A4081C360DD4}"/>
              </a:ext>
            </a:extLst>
          </p:cNvPr>
          <p:cNvSpPr/>
          <p:nvPr/>
        </p:nvSpPr>
        <p:spPr>
          <a:xfrm>
            <a:off x="5715000" y="3584448"/>
            <a:ext cx="206828" cy="21031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87E10F-1819-0E7C-3CBE-C3360E78F099}"/>
              </a:ext>
            </a:extLst>
          </p:cNvPr>
          <p:cNvSpPr/>
          <p:nvPr/>
        </p:nvSpPr>
        <p:spPr>
          <a:xfrm>
            <a:off x="5715000" y="3938016"/>
            <a:ext cx="206828" cy="210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9F829-BE22-774B-DA4D-C7227A9F2E2D}"/>
              </a:ext>
            </a:extLst>
          </p:cNvPr>
          <p:cNvSpPr/>
          <p:nvPr/>
        </p:nvSpPr>
        <p:spPr>
          <a:xfrm>
            <a:off x="5715000" y="4293923"/>
            <a:ext cx="206828" cy="2103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F5688-98A0-A6D5-3DD7-0E2567DF3488}"/>
              </a:ext>
            </a:extLst>
          </p:cNvPr>
          <p:cNvSpPr/>
          <p:nvPr/>
        </p:nvSpPr>
        <p:spPr>
          <a:xfrm>
            <a:off x="5715000" y="4649830"/>
            <a:ext cx="206828" cy="21031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7354B60-B1EB-42C7-6C57-0584B857A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8" r="80408"/>
          <a:stretch>
            <a:fillRect/>
          </a:stretch>
        </p:blipFill>
        <p:spPr bwMode="auto">
          <a:xfrm>
            <a:off x="2491522" y="1991608"/>
            <a:ext cx="1153886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Bracket 10">
            <a:extLst>
              <a:ext uri="{FF2B5EF4-FFF2-40B4-BE49-F238E27FC236}">
                <a16:creationId xmlns:a16="http://schemas.microsoft.com/office/drawing/2014/main" id="{17125383-3BE5-F15C-94D2-9BA20B33F760}"/>
              </a:ext>
            </a:extLst>
          </p:cNvPr>
          <p:cNvSpPr/>
          <p:nvPr/>
        </p:nvSpPr>
        <p:spPr>
          <a:xfrm rot="16200000">
            <a:off x="2876006" y="1148525"/>
            <a:ext cx="179397" cy="4255012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6AAE9-EC2F-885F-5662-C041B34E6633}"/>
              </a:ext>
            </a:extLst>
          </p:cNvPr>
          <p:cNvSpPr/>
          <p:nvPr/>
        </p:nvSpPr>
        <p:spPr>
          <a:xfrm>
            <a:off x="8339766" y="1296029"/>
            <a:ext cx="206828" cy="21031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CEDB6-B520-93FA-E223-A2CCA789AE2E}"/>
              </a:ext>
            </a:extLst>
          </p:cNvPr>
          <p:cNvSpPr/>
          <p:nvPr/>
        </p:nvSpPr>
        <p:spPr>
          <a:xfrm>
            <a:off x="8339766" y="1649597"/>
            <a:ext cx="206828" cy="210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1ACFC-AB9B-403B-6AA9-94A9F09A4EF4}"/>
              </a:ext>
            </a:extLst>
          </p:cNvPr>
          <p:cNvSpPr/>
          <p:nvPr/>
        </p:nvSpPr>
        <p:spPr>
          <a:xfrm>
            <a:off x="8339766" y="2005504"/>
            <a:ext cx="206828" cy="2103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502263-859E-092D-24A3-69EC5FA47F01}"/>
              </a:ext>
            </a:extLst>
          </p:cNvPr>
          <p:cNvSpPr/>
          <p:nvPr/>
        </p:nvSpPr>
        <p:spPr>
          <a:xfrm>
            <a:off x="8339766" y="2361411"/>
            <a:ext cx="206828" cy="21031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82542A-546D-B2F3-4923-4ECC0AB01CDA}"/>
              </a:ext>
            </a:extLst>
          </p:cNvPr>
          <p:cNvSpPr/>
          <p:nvPr/>
        </p:nvSpPr>
        <p:spPr>
          <a:xfrm>
            <a:off x="8339766" y="3116580"/>
            <a:ext cx="206828" cy="21031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94AC47-0944-C770-04D3-B20C17421DC3}"/>
              </a:ext>
            </a:extLst>
          </p:cNvPr>
          <p:cNvSpPr/>
          <p:nvPr/>
        </p:nvSpPr>
        <p:spPr>
          <a:xfrm>
            <a:off x="8339766" y="3470148"/>
            <a:ext cx="206828" cy="210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FBE854-0F8B-C8B6-7881-B8FF8705151C}"/>
              </a:ext>
            </a:extLst>
          </p:cNvPr>
          <p:cNvSpPr/>
          <p:nvPr/>
        </p:nvSpPr>
        <p:spPr>
          <a:xfrm>
            <a:off x="8339766" y="3826055"/>
            <a:ext cx="206828" cy="2103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05706E-5D1D-C36D-D4D7-B151D7F2B1DB}"/>
              </a:ext>
            </a:extLst>
          </p:cNvPr>
          <p:cNvSpPr/>
          <p:nvPr/>
        </p:nvSpPr>
        <p:spPr>
          <a:xfrm>
            <a:off x="8339766" y="4181962"/>
            <a:ext cx="206828" cy="21031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5F6902-B0FE-4896-3943-68115C8D4B78}"/>
              </a:ext>
            </a:extLst>
          </p:cNvPr>
          <p:cNvSpPr/>
          <p:nvPr/>
        </p:nvSpPr>
        <p:spPr>
          <a:xfrm>
            <a:off x="8339766" y="4963039"/>
            <a:ext cx="206828" cy="21031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B3CED-E79C-4EEF-1AB4-35182453159F}"/>
              </a:ext>
            </a:extLst>
          </p:cNvPr>
          <p:cNvSpPr/>
          <p:nvPr/>
        </p:nvSpPr>
        <p:spPr>
          <a:xfrm>
            <a:off x="8339766" y="5316607"/>
            <a:ext cx="206828" cy="210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F1227C-0E40-C0E0-9BBA-26D9AC514E05}"/>
              </a:ext>
            </a:extLst>
          </p:cNvPr>
          <p:cNvSpPr/>
          <p:nvPr/>
        </p:nvSpPr>
        <p:spPr>
          <a:xfrm>
            <a:off x="8339766" y="5672514"/>
            <a:ext cx="206828" cy="2103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4F0B8C-74DF-0463-6E87-AAEBA99F6E9F}"/>
              </a:ext>
            </a:extLst>
          </p:cNvPr>
          <p:cNvSpPr/>
          <p:nvPr/>
        </p:nvSpPr>
        <p:spPr>
          <a:xfrm>
            <a:off x="8339766" y="6028421"/>
            <a:ext cx="206828" cy="21031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8689AE-E855-E44E-C581-7596C48F58C1}"/>
              </a:ext>
            </a:extLst>
          </p:cNvPr>
          <p:cNvSpPr txBox="1"/>
          <p:nvPr/>
        </p:nvSpPr>
        <p:spPr>
          <a:xfrm>
            <a:off x="9784080" y="1656508"/>
            <a:ext cx="1132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/>
              <a:t>Texture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B0CDFA-0717-81F9-848F-2C1B57065C17}"/>
              </a:ext>
            </a:extLst>
          </p:cNvPr>
          <p:cNvSpPr txBox="1"/>
          <p:nvPr/>
        </p:nvSpPr>
        <p:spPr>
          <a:xfrm>
            <a:off x="9784079" y="3499839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/>
              <a:t>Noise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00BB7E-CD37-9DF4-3823-B3CA5BAB4C80}"/>
              </a:ext>
            </a:extLst>
          </p:cNvPr>
          <p:cNvSpPr txBox="1"/>
          <p:nvPr/>
        </p:nvSpPr>
        <p:spPr>
          <a:xfrm>
            <a:off x="9784079" y="5421763"/>
            <a:ext cx="1132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/>
              <a:t>Texture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E11169-5051-200D-6208-8DC84725696B}"/>
              </a:ext>
            </a:extLst>
          </p:cNvPr>
          <p:cNvCxnSpPr/>
          <p:nvPr/>
        </p:nvCxnSpPr>
        <p:spPr>
          <a:xfrm>
            <a:off x="9070848" y="1887340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7AEBA2-BCEF-AF4F-0336-8CDFE36755DB}"/>
              </a:ext>
            </a:extLst>
          </p:cNvPr>
          <p:cNvCxnSpPr/>
          <p:nvPr/>
        </p:nvCxnSpPr>
        <p:spPr>
          <a:xfrm>
            <a:off x="9017508" y="3758731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93D4A7A-9393-2C0E-26A8-977C1051AE69}"/>
              </a:ext>
            </a:extLst>
          </p:cNvPr>
          <p:cNvCxnSpPr/>
          <p:nvPr/>
        </p:nvCxnSpPr>
        <p:spPr>
          <a:xfrm>
            <a:off x="9000744" y="5682286"/>
            <a:ext cx="521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CF56D0-4FA3-0066-719E-1B403E0DA5DF}"/>
              </a:ext>
            </a:extLst>
          </p:cNvPr>
          <p:cNvCxnSpPr/>
          <p:nvPr/>
        </p:nvCxnSpPr>
        <p:spPr>
          <a:xfrm flipV="1">
            <a:off x="7178040" y="1174210"/>
            <a:ext cx="0" cy="52108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95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D2ED9D-BF57-A228-94C8-3E8D85BB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5CBE2-F4C6-7BE9-9186-744AC45CF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4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235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Roboto</vt:lpstr>
      <vt:lpstr>Office Theme</vt:lpstr>
      <vt:lpstr>Exercise 5</vt:lpstr>
      <vt:lpstr>Context of the Exercise</vt:lpstr>
      <vt:lpstr>Overview of  visual cortex V1 and V2</vt:lpstr>
      <vt:lpstr>Experimental Methodology</vt:lpstr>
      <vt:lpstr>Experimental Methodology</vt:lpstr>
      <vt:lpstr>The Dataset</vt:lpstr>
      <vt:lpstr>Objectives</vt:lpstr>
      <vt:lpstr>Retrieve image type from LFP</vt:lpstr>
      <vt:lpstr>Train linear classifier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Rodriguez G</dc:creator>
  <cp:lastModifiedBy>Aude Maier</cp:lastModifiedBy>
  <cp:revision>10</cp:revision>
  <dcterms:created xsi:type="dcterms:W3CDTF">2025-03-16T15:09:40Z</dcterms:created>
  <dcterms:modified xsi:type="dcterms:W3CDTF">2026-03-23T09:39:58Z</dcterms:modified>
</cp:coreProperties>
</file>