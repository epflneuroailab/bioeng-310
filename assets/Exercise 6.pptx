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60" r:id="rId4"/>
    <p:sldId id="259" r:id="rId5"/>
    <p:sldId id="261" r:id="rId6"/>
    <p:sldId id="262" r:id="rId7"/>
    <p:sldId id="263" r:id="rId8"/>
    <p:sldId id="264" r:id="rId9"/>
    <p:sldId id="267" r:id="rId10"/>
    <p:sldId id="265" r:id="rId11"/>
    <p:sldId id="266" r:id="rId12"/>
    <p:sldId id="268" r:id="rId13"/>
    <p:sldId id="269" r:id="rId14"/>
    <p:sldId id="271" r:id="rId15"/>
    <p:sldId id="273" r:id="rId16"/>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2" d="100"/>
          <a:sy n="72" d="100"/>
        </p:scale>
        <p:origin x="4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8141BD-D14C-4146-BC5B-BF23FF9B5C7B}" type="datetimeFigureOut">
              <a:rPr lang="LID4096" smtClean="0"/>
              <a:t>03/23/2025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51C6F-126E-4835-82A5-50F75337609B}" type="slidenum">
              <a:rPr lang="LID4096" smtClean="0"/>
              <a:t>‹#›</a:t>
            </a:fld>
            <a:endParaRPr lang="LID4096"/>
          </a:p>
        </p:txBody>
      </p:sp>
    </p:spTree>
    <p:extLst>
      <p:ext uri="{BB962C8B-B14F-4D97-AF65-F5344CB8AC3E}">
        <p14:creationId xmlns:p14="http://schemas.microsoft.com/office/powerpoint/2010/main" val="3177408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E2E2E"/>
                </a:solidFill>
                <a:effectLst/>
                <a:latin typeface="helvetica" panose="020B0604020202020204" pitchFamily="34" charset="0"/>
              </a:rPr>
              <a:t>(A) Schematic retinal circuitry, comprising photoreceptors (P), bipolar cells (B), two types of inhibitory interneurons [horizontal (H) and amacrine (A) cells], and a ganglion cell (G). Visual information propagates from top to bottom. The output is the spiking response of the ganglion cell, as indicated here by an extracellularly recorded voltage trace. (B) Ganglion cell center-surround receptive field, depicted here as a difference-of-Gaussians model. The spatial filter that comprises the receptive field contains a positive 2D Gaussian function for the center (orange, shown here as a 1D Gaussian cross-section) and a concentric, but broader negative Gaussian function for the surround (blue). The filter signals, obtained as weighted sums of pixel values, are added, yielding the combined receptive-field activation. Center and surround are attributed to excitatory bipolar cells and inhibitory interneurons, respectively, as indicated by the corresponding colors. Top: illustration of center and surround as 2D outlines overlaid on a visual stimulus. (C) Spatial linear–nonlinear (LN) model. First, a spatial filter, representing the receptive field of the ganglion cell, is applied to the visual stimulus, corresponding to a weighted summation of stimulus pixel values. The filtered signal is subsequently passed through a nonlinear transformation to produce the response of the ganglion cell, measured, for example, as the evoked firing rate. (D) Subunit model. Multiple subunits act as spatial filters with subsequent nonlinearities. Their responses are summed in a weighted manner and passed through a final nonlinearity to produce the response of the ganglion cell (e.g., firing rate).</a:t>
            </a:r>
            <a:endParaRPr lang="LID4096" dirty="0"/>
          </a:p>
        </p:txBody>
      </p:sp>
      <p:sp>
        <p:nvSpPr>
          <p:cNvPr id="4" name="Slide Number Placeholder 3"/>
          <p:cNvSpPr>
            <a:spLocks noGrp="1"/>
          </p:cNvSpPr>
          <p:nvPr>
            <p:ph type="sldNum" sz="quarter" idx="5"/>
          </p:nvPr>
        </p:nvSpPr>
        <p:spPr/>
        <p:txBody>
          <a:bodyPr/>
          <a:lstStyle/>
          <a:p>
            <a:fld id="{A1F51C6F-126E-4835-82A5-50F75337609B}" type="slidenum">
              <a:rPr lang="LID4096" smtClean="0"/>
              <a:t>6</a:t>
            </a:fld>
            <a:endParaRPr lang="LID4096"/>
          </a:p>
        </p:txBody>
      </p:sp>
    </p:spTree>
    <p:extLst>
      <p:ext uri="{BB962C8B-B14F-4D97-AF65-F5344CB8AC3E}">
        <p14:creationId xmlns:p14="http://schemas.microsoft.com/office/powerpoint/2010/main" val="265165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4F7F-7924-4328-9937-CC2B533C84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240D744F-785A-4A49-A281-ABB02C863F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0B97529A-6938-458A-9526-BFD25F4F8B8A}"/>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5" name="Footer Placeholder 4">
            <a:extLst>
              <a:ext uri="{FF2B5EF4-FFF2-40B4-BE49-F238E27FC236}">
                <a16:creationId xmlns:a16="http://schemas.microsoft.com/office/drawing/2014/main" id="{73457AA2-A28E-4F73-8873-3297054C370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3F3155C-A480-45CB-91B2-12ADC392AF7F}"/>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2436558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2DB04-5C5F-45B8-A7A5-AF63E85C3F32}"/>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DB3707C-33E4-4DC5-83F2-960B2C8917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67AC75B0-B9ED-4AD7-B5C0-6EDBDDA91390}"/>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5" name="Footer Placeholder 4">
            <a:extLst>
              <a:ext uri="{FF2B5EF4-FFF2-40B4-BE49-F238E27FC236}">
                <a16:creationId xmlns:a16="http://schemas.microsoft.com/office/drawing/2014/main" id="{3D5F5A7A-8501-4A9D-BAA2-0130156142A2}"/>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E58FDFE-0EA2-4F19-A781-AE4F6009C858}"/>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50883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C28A6-6B62-4F71-857D-4FA4F57DA7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72922F1B-B395-44BB-8D21-8508346714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9B4902-E58F-4EA3-AF1B-E8497C504888}"/>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5" name="Footer Placeholder 4">
            <a:extLst>
              <a:ext uri="{FF2B5EF4-FFF2-40B4-BE49-F238E27FC236}">
                <a16:creationId xmlns:a16="http://schemas.microsoft.com/office/drawing/2014/main" id="{BF3491C6-70B7-41F3-894B-EB952608F24C}"/>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C335EF3B-1AD4-4D8B-A194-2D6D2EA6D94A}"/>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3123561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4553C-37B7-4830-A45E-F38D913945D4}"/>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DE6EFAF7-2134-4746-B91E-25AB69966E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57502EE6-3BC7-41EE-80E7-31F1376FBF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429BE59C-7244-4AEE-96FD-71FA14C2F228}"/>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6" name="Footer Placeholder 5">
            <a:extLst>
              <a:ext uri="{FF2B5EF4-FFF2-40B4-BE49-F238E27FC236}">
                <a16:creationId xmlns:a16="http://schemas.microsoft.com/office/drawing/2014/main" id="{3256AB45-BA73-4698-B486-D713C8C31B44}"/>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BD7077E6-152F-417A-9B87-7919CA08E538}"/>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109332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1946B-3AB5-49E5-B28F-A5E5AEFD8972}"/>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C3E8DFAF-7274-437B-B55E-5CA6462C1B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11BF90-E241-4A60-8F45-D82F2AF30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05FD306E-ABA8-48F4-89CC-54D758F6E9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13ADAF-3356-4E68-A6A5-444F3D3FC1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9176A540-EEB7-4666-B659-51DF30EDD7A9}"/>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8" name="Footer Placeholder 7">
            <a:extLst>
              <a:ext uri="{FF2B5EF4-FFF2-40B4-BE49-F238E27FC236}">
                <a16:creationId xmlns:a16="http://schemas.microsoft.com/office/drawing/2014/main" id="{8C071FEC-25B5-4E9F-B8A4-A3BFD79BE2CD}"/>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25D2A8E5-28D8-42C9-AE00-8BF197A76892}"/>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2652451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64823-14DB-4908-B3FA-55ECA73A751D}"/>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51AA5157-C4DF-475B-BF32-566A23282891}"/>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4" name="Footer Placeholder 3">
            <a:extLst>
              <a:ext uri="{FF2B5EF4-FFF2-40B4-BE49-F238E27FC236}">
                <a16:creationId xmlns:a16="http://schemas.microsoft.com/office/drawing/2014/main" id="{BA27F3C2-EE5B-4AF9-9B85-4B9685D8BBD2}"/>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7714AE72-8B5B-481D-A459-F023B761F3D1}"/>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557374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95C87B-B2C9-4560-A3DD-060916DF3559}"/>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3" name="Footer Placeholder 2">
            <a:extLst>
              <a:ext uri="{FF2B5EF4-FFF2-40B4-BE49-F238E27FC236}">
                <a16:creationId xmlns:a16="http://schemas.microsoft.com/office/drawing/2014/main" id="{42C2C18A-1609-43B7-86A3-B02BA1FB844E}"/>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DD02C18F-B0A1-43AE-9CA9-AB8346767854}"/>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1382973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399D0-B2AA-4EE9-B5B4-45E62B6954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A818E138-7797-4B37-97F2-3AFE81A98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C8961861-A84E-4F13-BF0D-C5D32B5FFE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A78A3A-2CE8-488E-B845-989FB0F81D5E}"/>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6" name="Footer Placeholder 5">
            <a:extLst>
              <a:ext uri="{FF2B5EF4-FFF2-40B4-BE49-F238E27FC236}">
                <a16:creationId xmlns:a16="http://schemas.microsoft.com/office/drawing/2014/main" id="{28DE44C2-FC17-484C-8545-2FE474D6789D}"/>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9505602-A892-4680-9367-EA0A99AEF5D0}"/>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56794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151FF-CF32-4217-A9E8-148633C81B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3F53B69A-14DF-45B3-91E4-FC363BAA2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5BB4CACD-7C7B-48BE-B8FD-C6E9A39C3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ABE35-3DD5-4575-86CA-F312EF9231FB}"/>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6" name="Footer Placeholder 5">
            <a:extLst>
              <a:ext uri="{FF2B5EF4-FFF2-40B4-BE49-F238E27FC236}">
                <a16:creationId xmlns:a16="http://schemas.microsoft.com/office/drawing/2014/main" id="{FCBE12D8-B052-49D2-85FC-AC3E3BF152F7}"/>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A68D30A5-122F-4A32-9A6F-B5BE823FCD3F}"/>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1463596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57D66-4E77-4A9C-BD15-34982F9F3BDC}"/>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62B67F54-14A6-4D04-8D2A-FBB3148571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220CF0C-77CF-43A9-B9AB-7B1CF087C147}"/>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5" name="Footer Placeholder 4">
            <a:extLst>
              <a:ext uri="{FF2B5EF4-FFF2-40B4-BE49-F238E27FC236}">
                <a16:creationId xmlns:a16="http://schemas.microsoft.com/office/drawing/2014/main" id="{9FA7B739-21C0-4A8C-86C3-BD16A7E2C92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5DAB37D-D969-4500-A6A1-128A281EA81F}"/>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1430247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C1F9E6-FDAF-4AE9-8C07-BBCFCEC7BB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42400CD9-4236-43F7-8BA3-698A53B900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7FCD44CF-687A-4993-BFB8-C949CA49FAE6}"/>
              </a:ext>
            </a:extLst>
          </p:cNvPr>
          <p:cNvSpPr>
            <a:spLocks noGrp="1"/>
          </p:cNvSpPr>
          <p:nvPr>
            <p:ph type="dt" sz="half" idx="10"/>
          </p:nvPr>
        </p:nvSpPr>
        <p:spPr/>
        <p:txBody>
          <a:bodyPr/>
          <a:lstStyle/>
          <a:p>
            <a:fld id="{D033C7E7-C895-4382-96DA-4F92AD936C1C}" type="datetimeFigureOut">
              <a:rPr lang="LID4096" smtClean="0"/>
              <a:t>03/23/2025</a:t>
            </a:fld>
            <a:endParaRPr lang="LID4096"/>
          </a:p>
        </p:txBody>
      </p:sp>
      <p:sp>
        <p:nvSpPr>
          <p:cNvPr id="5" name="Footer Placeholder 4">
            <a:extLst>
              <a:ext uri="{FF2B5EF4-FFF2-40B4-BE49-F238E27FC236}">
                <a16:creationId xmlns:a16="http://schemas.microsoft.com/office/drawing/2014/main" id="{065CF6E4-9F50-4435-8A88-3BDFC5F69338}"/>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1104B1B-B1FC-470A-84BE-63C794E1C671}"/>
              </a:ext>
            </a:extLst>
          </p:cNvPr>
          <p:cNvSpPr>
            <a:spLocks noGrp="1"/>
          </p:cNvSpPr>
          <p:nvPr>
            <p:ph type="sldNum" sz="quarter" idx="12"/>
          </p:nvPr>
        </p:nvSpPr>
        <p:spPr/>
        <p:txBody>
          <a:bodyPr/>
          <a:lstStyle/>
          <a:p>
            <a:fld id="{DBD34C22-A0A2-45A6-B98E-A9023EA83CA8}" type="slidenum">
              <a:rPr lang="LID4096" smtClean="0"/>
              <a:t>‹#›</a:t>
            </a:fld>
            <a:endParaRPr lang="LID4096"/>
          </a:p>
        </p:txBody>
      </p:sp>
    </p:spTree>
    <p:extLst>
      <p:ext uri="{BB962C8B-B14F-4D97-AF65-F5344CB8AC3E}">
        <p14:creationId xmlns:p14="http://schemas.microsoft.com/office/powerpoint/2010/main" val="314978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75353E-5B8D-437D-AC4B-1BDE931055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DBDF59C9-718F-4479-B1C9-43C2EA29AB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C592C9BC-C2EF-4DB0-A866-05C147D8AB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33C7E7-C895-4382-96DA-4F92AD936C1C}" type="datetimeFigureOut">
              <a:rPr lang="LID4096" smtClean="0"/>
              <a:t>03/23/2025</a:t>
            </a:fld>
            <a:endParaRPr lang="LID4096"/>
          </a:p>
        </p:txBody>
      </p:sp>
      <p:sp>
        <p:nvSpPr>
          <p:cNvPr id="5" name="Footer Placeholder 4">
            <a:extLst>
              <a:ext uri="{FF2B5EF4-FFF2-40B4-BE49-F238E27FC236}">
                <a16:creationId xmlns:a16="http://schemas.microsoft.com/office/drawing/2014/main" id="{6CF85D39-E0B0-4521-9C87-289C19BE2D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B40EFBBD-2EC7-42C7-8D72-C84175BF7A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34C22-A0A2-45A6-B98E-A9023EA83CA8}" type="slidenum">
              <a:rPr lang="LID4096" smtClean="0"/>
              <a:t>‹#›</a:t>
            </a:fld>
            <a:endParaRPr lang="LID4096"/>
          </a:p>
        </p:txBody>
      </p:sp>
    </p:spTree>
    <p:extLst>
      <p:ext uri="{BB962C8B-B14F-4D97-AF65-F5344CB8AC3E}">
        <p14:creationId xmlns:p14="http://schemas.microsoft.com/office/powerpoint/2010/main" val="1736892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B187E-021C-C91A-6FE4-5747124D2EAD}"/>
              </a:ext>
            </a:extLst>
          </p:cNvPr>
          <p:cNvSpPr>
            <a:spLocks noGrp="1"/>
          </p:cNvSpPr>
          <p:nvPr>
            <p:ph type="ctrTitle"/>
          </p:nvPr>
        </p:nvSpPr>
        <p:spPr/>
        <p:txBody>
          <a:bodyPr/>
          <a:lstStyle/>
          <a:p>
            <a:r>
              <a:rPr lang="en-US" dirty="0"/>
              <a:t>Exercise 6</a:t>
            </a:r>
          </a:p>
        </p:txBody>
      </p:sp>
      <p:sp>
        <p:nvSpPr>
          <p:cNvPr id="3" name="Subtitle 2">
            <a:extLst>
              <a:ext uri="{FF2B5EF4-FFF2-40B4-BE49-F238E27FC236}">
                <a16:creationId xmlns:a16="http://schemas.microsoft.com/office/drawing/2014/main" id="{9B94930B-CDC8-08DD-495F-9D8138534855}"/>
              </a:ext>
            </a:extLst>
          </p:cNvPr>
          <p:cNvSpPr>
            <a:spLocks noGrp="1"/>
          </p:cNvSpPr>
          <p:nvPr>
            <p:ph type="subTitle" idx="1"/>
          </p:nvPr>
        </p:nvSpPr>
        <p:spPr/>
        <p:txBody>
          <a:bodyPr/>
          <a:lstStyle/>
          <a:p>
            <a:r>
              <a:rPr lang="en-US" dirty="0"/>
              <a:t>BIOENG-310: Neuroscience Foundations for Engineers</a:t>
            </a:r>
          </a:p>
          <a:p>
            <a:r>
              <a:rPr lang="en-US" sz="2000" dirty="0" err="1"/>
              <a:t>Yingtian</a:t>
            </a:r>
            <a:r>
              <a:rPr lang="en-US" sz="2000" dirty="0"/>
              <a:t> </a:t>
            </a:r>
            <a:r>
              <a:rPr lang="en-US" sz="2000" dirty="0" err="1"/>
              <a:t>Tiang</a:t>
            </a:r>
            <a:endParaRPr lang="en-US" sz="2000" dirty="0"/>
          </a:p>
          <a:p>
            <a:r>
              <a:rPr lang="en-US" sz="2000" dirty="0"/>
              <a:t>Alejandro Rodriguez Guajardo</a:t>
            </a:r>
          </a:p>
        </p:txBody>
      </p:sp>
    </p:spTree>
    <p:extLst>
      <p:ext uri="{BB962C8B-B14F-4D97-AF65-F5344CB8AC3E}">
        <p14:creationId xmlns:p14="http://schemas.microsoft.com/office/powerpoint/2010/main" val="3411760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66552-2277-6A31-F792-5B209CBB6783}"/>
              </a:ext>
            </a:extLst>
          </p:cNvPr>
          <p:cNvSpPr>
            <a:spLocks noGrp="1"/>
          </p:cNvSpPr>
          <p:nvPr>
            <p:ph type="title"/>
          </p:nvPr>
        </p:nvSpPr>
        <p:spPr/>
        <p:txBody>
          <a:bodyPr/>
          <a:lstStyle/>
          <a:p>
            <a:r>
              <a:rPr lang="en-US" dirty="0"/>
              <a:t>Context of the Exercise</a:t>
            </a:r>
          </a:p>
        </p:txBody>
      </p:sp>
      <p:sp>
        <p:nvSpPr>
          <p:cNvPr id="3" name="Content Placeholder 2">
            <a:extLst>
              <a:ext uri="{FF2B5EF4-FFF2-40B4-BE49-F238E27FC236}">
                <a16:creationId xmlns:a16="http://schemas.microsoft.com/office/drawing/2014/main" id="{140A7752-D959-F828-9FB2-B21614AE744A}"/>
              </a:ext>
            </a:extLst>
          </p:cNvPr>
          <p:cNvSpPr>
            <a:spLocks noGrp="1"/>
          </p:cNvSpPr>
          <p:nvPr>
            <p:ph idx="1"/>
          </p:nvPr>
        </p:nvSpPr>
        <p:spPr/>
        <p:txBody>
          <a:bodyPr/>
          <a:lstStyle/>
          <a:p>
            <a:r>
              <a:rPr lang="en-US" dirty="0"/>
              <a:t>We will use a dataset from </a:t>
            </a:r>
            <a:r>
              <a:rPr lang="en-US" b="0" i="0" dirty="0">
                <a:effectLst/>
                <a:latin typeface="Roboto" panose="02000000000000000000" pitchFamily="2" charset="0"/>
              </a:rPr>
              <a:t>Freeman &amp; Ziemba, 2013, </a:t>
            </a:r>
            <a:r>
              <a:rPr lang="en-US" dirty="0"/>
              <a:t>a study on V1 and V2 responses to visual textures in macaque monkeys.</a:t>
            </a:r>
          </a:p>
          <a:p>
            <a:r>
              <a:rPr lang="en-US" b="1" dirty="0"/>
              <a:t>Objective: </a:t>
            </a:r>
            <a:r>
              <a:rPr lang="en-US" dirty="0"/>
              <a:t>Learn how to create and manipulate Gabor filters and RDM</a:t>
            </a:r>
            <a:endParaRPr lang="en-US" sz="2800" dirty="0"/>
          </a:p>
          <a:p>
            <a:pPr marL="971550" lvl="1" indent="-514350">
              <a:buFont typeface="+mj-lt"/>
              <a:buAutoNum type="arabicPeriod"/>
            </a:pPr>
            <a:r>
              <a:rPr lang="en-US" sz="2800" b="1" dirty="0"/>
              <a:t>Gabor filtering:</a:t>
            </a:r>
            <a:r>
              <a:rPr lang="en-US" sz="2800" dirty="0"/>
              <a:t> construct Gabor filters (lots of work)</a:t>
            </a:r>
          </a:p>
          <a:p>
            <a:pPr marL="971550" lvl="1" indent="-514350">
              <a:buFont typeface="+mj-lt"/>
              <a:buAutoNum type="arabicPeriod"/>
            </a:pPr>
            <a:r>
              <a:rPr lang="en-US" sz="2800" b="1" dirty="0"/>
              <a:t>Alignment between Gabor filtering and monkey V1 activity:</a:t>
            </a:r>
            <a:r>
              <a:rPr lang="en-US" sz="2800" dirty="0"/>
              <a:t> using RDMs to compare Gabor features and V1 activities</a:t>
            </a:r>
            <a:endParaRPr lang="en-US" dirty="0"/>
          </a:p>
        </p:txBody>
      </p:sp>
    </p:spTree>
    <p:extLst>
      <p:ext uri="{BB962C8B-B14F-4D97-AF65-F5344CB8AC3E}">
        <p14:creationId xmlns:p14="http://schemas.microsoft.com/office/powerpoint/2010/main" val="3941022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9C08D-B984-D7F3-BAB0-02463C072AE5}"/>
              </a:ext>
            </a:extLst>
          </p:cNvPr>
          <p:cNvSpPr>
            <a:spLocks noGrp="1"/>
          </p:cNvSpPr>
          <p:nvPr>
            <p:ph type="title"/>
          </p:nvPr>
        </p:nvSpPr>
        <p:spPr>
          <a:xfrm>
            <a:off x="7455876" y="2374742"/>
            <a:ext cx="4078793" cy="1325563"/>
          </a:xfrm>
        </p:spPr>
        <p:txBody>
          <a:bodyPr>
            <a:normAutofit/>
          </a:bodyPr>
          <a:lstStyle/>
          <a:p>
            <a:r>
              <a:rPr lang="en-US" dirty="0"/>
              <a:t>Overview of  the visual system</a:t>
            </a:r>
          </a:p>
        </p:txBody>
      </p:sp>
      <p:pic>
        <p:nvPicPr>
          <p:cNvPr id="2052" name="Picture 4" descr="Neuro Science | ShareTechnote">
            <a:extLst>
              <a:ext uri="{FF2B5EF4-FFF2-40B4-BE49-F238E27FC236}">
                <a16:creationId xmlns:a16="http://schemas.microsoft.com/office/drawing/2014/main" id="{0CFD8351-9075-D5CF-8D90-37E60ABA6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070" y="365125"/>
            <a:ext cx="5884775" cy="5707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397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EDF0E-BC31-42E4-B8BF-FAA13CEB996D}"/>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77C8B358-8AFC-4EBD-857F-4D2EAB9E9726}"/>
              </a:ext>
            </a:extLst>
          </p:cNvPr>
          <p:cNvSpPr>
            <a:spLocks noGrp="1"/>
          </p:cNvSpPr>
          <p:nvPr>
            <p:ph idx="1"/>
          </p:nvPr>
        </p:nvSpPr>
        <p:spPr/>
        <p:txBody>
          <a:bodyPr/>
          <a:lstStyle/>
          <a:p>
            <a:endParaRPr lang="LID4096"/>
          </a:p>
        </p:txBody>
      </p:sp>
      <p:pic>
        <p:nvPicPr>
          <p:cNvPr id="1028" name="Picture 4" descr="Visual Processing and the Visual Cortex">
            <a:extLst>
              <a:ext uri="{FF2B5EF4-FFF2-40B4-BE49-F238E27FC236}">
                <a16:creationId xmlns:a16="http://schemas.microsoft.com/office/drawing/2014/main" id="{7BB1BBA6-8228-4F7D-95D1-878211050E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204"/>
          <a:stretch/>
        </p:blipFill>
        <p:spPr bwMode="auto">
          <a:xfrm>
            <a:off x="588139" y="646054"/>
            <a:ext cx="11015722" cy="5565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188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Perception Lecture Notes: Retinal Ganglion Cells">
            <a:extLst>
              <a:ext uri="{FF2B5EF4-FFF2-40B4-BE49-F238E27FC236}">
                <a16:creationId xmlns:a16="http://schemas.microsoft.com/office/drawing/2014/main" id="{E9BA3636-1A4D-46B4-8369-E6D9E2DD16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34440" y="949529"/>
            <a:ext cx="6919304" cy="5189478"/>
          </a:xfrm>
          <a:prstGeom prst="rect">
            <a:avLst/>
          </a:prstGeom>
          <a:noFill/>
          <a:extLst>
            <a:ext uri="{909E8E84-426E-40DD-AFC4-6F175D3DCCD1}">
              <a14:hiddenFill xmlns:a14="http://schemas.microsoft.com/office/drawing/2010/main">
                <a:solidFill>
                  <a:srgbClr val="FFFFFF"/>
                </a:solidFill>
              </a14:hiddenFill>
            </a:ext>
          </a:extLst>
        </p:spPr>
      </p:pic>
      <p:sp>
        <p:nvSpPr>
          <p:cNvPr id="4" name="Sun 3">
            <a:extLst>
              <a:ext uri="{FF2B5EF4-FFF2-40B4-BE49-F238E27FC236}">
                <a16:creationId xmlns:a16="http://schemas.microsoft.com/office/drawing/2014/main" id="{D05B61A5-3225-4EBA-924F-0CA7FAC65816}"/>
              </a:ext>
            </a:extLst>
          </p:cNvPr>
          <p:cNvSpPr/>
          <p:nvPr/>
        </p:nvSpPr>
        <p:spPr>
          <a:xfrm>
            <a:off x="11054599" y="113250"/>
            <a:ext cx="998290" cy="931178"/>
          </a:xfrm>
          <a:prstGeom prst="sun">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 name="Lightning Bolt 4">
            <a:extLst>
              <a:ext uri="{FF2B5EF4-FFF2-40B4-BE49-F238E27FC236}">
                <a16:creationId xmlns:a16="http://schemas.microsoft.com/office/drawing/2014/main" id="{77344AE7-D62F-4BDC-A7BA-37E70DF04158}"/>
              </a:ext>
            </a:extLst>
          </p:cNvPr>
          <p:cNvSpPr/>
          <p:nvPr/>
        </p:nvSpPr>
        <p:spPr>
          <a:xfrm flipH="1">
            <a:off x="10618849" y="1015067"/>
            <a:ext cx="675302" cy="704675"/>
          </a:xfrm>
          <a:prstGeom prst="lightningBol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dirty="0"/>
          </a:p>
        </p:txBody>
      </p:sp>
      <p:pic>
        <p:nvPicPr>
          <p:cNvPr id="2054" name="Picture 6" descr="neuroscience - What determines the shape of the center-surround receptive  fields of retinal ganglion cells? - Biology Stack Exchange">
            <a:extLst>
              <a:ext uri="{FF2B5EF4-FFF2-40B4-BE49-F238E27FC236}">
                <a16:creationId xmlns:a16="http://schemas.microsoft.com/office/drawing/2014/main" id="{CE122936-77DC-4A0A-9B33-C956B6C67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770" y="1141614"/>
            <a:ext cx="4126338" cy="46754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B89C5C9-C16D-471E-8572-16EF5EA63EE7}"/>
              </a:ext>
            </a:extLst>
          </p:cNvPr>
          <p:cNvSpPr txBox="1"/>
          <p:nvPr/>
        </p:nvSpPr>
        <p:spPr>
          <a:xfrm>
            <a:off x="7359589" y="5980974"/>
            <a:ext cx="1949573" cy="461665"/>
          </a:xfrm>
          <a:prstGeom prst="rect">
            <a:avLst/>
          </a:prstGeom>
          <a:noFill/>
        </p:spPr>
        <p:txBody>
          <a:bodyPr wrap="none" rtlCol="0">
            <a:spAutoFit/>
          </a:bodyPr>
          <a:lstStyle/>
          <a:p>
            <a:r>
              <a:rPr lang="fr-CH" sz="2400" dirty="0"/>
              <a:t>To </a:t>
            </a:r>
            <a:r>
              <a:rPr lang="fr-CH" sz="2400" dirty="0" err="1"/>
              <a:t>optic</a:t>
            </a:r>
            <a:r>
              <a:rPr lang="fr-CH" sz="2400" dirty="0"/>
              <a:t> nerve</a:t>
            </a:r>
            <a:endParaRPr lang="LID4096" sz="2400" dirty="0"/>
          </a:p>
        </p:txBody>
      </p:sp>
    </p:spTree>
    <p:extLst>
      <p:ext uri="{BB962C8B-B14F-4D97-AF65-F5344CB8AC3E}">
        <p14:creationId xmlns:p14="http://schemas.microsoft.com/office/powerpoint/2010/main" val="3039970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DF9E0-D819-4B8B-B520-29E1C3B8063E}"/>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9B3A6C57-668C-47A0-9A20-9C391DCA2752}"/>
              </a:ext>
            </a:extLst>
          </p:cNvPr>
          <p:cNvSpPr>
            <a:spLocks noGrp="1"/>
          </p:cNvSpPr>
          <p:nvPr>
            <p:ph idx="1"/>
          </p:nvPr>
        </p:nvSpPr>
        <p:spPr/>
        <p:txBody>
          <a:bodyPr/>
          <a:lstStyle/>
          <a:p>
            <a:endParaRPr lang="LID4096"/>
          </a:p>
        </p:txBody>
      </p:sp>
      <p:pic>
        <p:nvPicPr>
          <p:cNvPr id="3074" name="Picture 2" descr="Retinal receptive-field substructure: scaffolding for coding and  computation: Trends in Neurosciences">
            <a:extLst>
              <a:ext uri="{FF2B5EF4-FFF2-40B4-BE49-F238E27FC236}">
                <a16:creationId xmlns:a16="http://schemas.microsoft.com/office/drawing/2014/main" id="{A75B7737-0D27-4802-AAB3-39F77D198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3" y="0"/>
            <a:ext cx="110775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95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62BA5-F43B-40EB-A94F-4E77C6A57F66}"/>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317B2D18-E93C-465F-B8F1-9530B497644A}"/>
              </a:ext>
            </a:extLst>
          </p:cNvPr>
          <p:cNvSpPr>
            <a:spLocks noGrp="1"/>
          </p:cNvSpPr>
          <p:nvPr>
            <p:ph idx="1"/>
          </p:nvPr>
        </p:nvSpPr>
        <p:spPr/>
        <p:txBody>
          <a:bodyPr/>
          <a:lstStyle/>
          <a:p>
            <a:endParaRPr lang="LID4096"/>
          </a:p>
        </p:txBody>
      </p:sp>
      <p:pic>
        <p:nvPicPr>
          <p:cNvPr id="4098" name="Picture 2" descr="Frontiers | Why vision is not both hierarchical and feedforward">
            <a:extLst>
              <a:ext uri="{FF2B5EF4-FFF2-40B4-BE49-F238E27FC236}">
                <a16:creationId xmlns:a16="http://schemas.microsoft.com/office/drawing/2014/main" id="{DD52CA84-C0B4-43D9-BF68-EA1B7ACE43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165" y="1416497"/>
            <a:ext cx="10137787" cy="3661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173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D1035-F5B5-4B58-84EA-A11BD8AB57AB}"/>
              </a:ext>
            </a:extLst>
          </p:cNvPr>
          <p:cNvSpPr>
            <a:spLocks noGrp="1"/>
          </p:cNvSpPr>
          <p:nvPr>
            <p:ph type="title"/>
          </p:nvPr>
        </p:nvSpPr>
        <p:spPr/>
        <p:txBody>
          <a:bodyPr/>
          <a:lstStyle/>
          <a:p>
            <a:r>
              <a:rPr lang="fr-CH" dirty="0" err="1"/>
              <a:t>What</a:t>
            </a:r>
            <a:r>
              <a:rPr lang="fr-CH" dirty="0"/>
              <a:t> are Gabor </a:t>
            </a:r>
            <a:r>
              <a:rPr lang="fr-CH" dirty="0" err="1"/>
              <a:t>Filters</a:t>
            </a:r>
            <a:r>
              <a:rPr lang="fr-CH" dirty="0"/>
              <a:t>?</a:t>
            </a:r>
            <a:endParaRPr lang="LID4096" dirty="0"/>
          </a:p>
        </p:txBody>
      </p:sp>
      <p:sp>
        <p:nvSpPr>
          <p:cNvPr id="3" name="Content Placeholder 2">
            <a:extLst>
              <a:ext uri="{FF2B5EF4-FFF2-40B4-BE49-F238E27FC236}">
                <a16:creationId xmlns:a16="http://schemas.microsoft.com/office/drawing/2014/main" id="{493F1A3D-43B3-4AB6-91D9-B1253A705B6A}"/>
              </a:ext>
            </a:extLst>
          </p:cNvPr>
          <p:cNvSpPr>
            <a:spLocks noGrp="1"/>
          </p:cNvSpPr>
          <p:nvPr>
            <p:ph idx="1"/>
          </p:nvPr>
        </p:nvSpPr>
        <p:spPr>
          <a:xfrm>
            <a:off x="6223247" y="2003179"/>
            <a:ext cx="5130553" cy="4351338"/>
          </a:xfrm>
        </p:spPr>
        <p:txBody>
          <a:bodyPr/>
          <a:lstStyle/>
          <a:p>
            <a:r>
              <a:rPr lang="en-US" dirty="0"/>
              <a:t>Gabor filters are a class of linear filters used for texture and edge analysis in image processing.</a:t>
            </a:r>
          </a:p>
          <a:p>
            <a:r>
              <a:rPr lang="en-US" dirty="0"/>
              <a:t>They are based on the mathematical concept of a sinusoidal wave (sine or cosine) modulated by a Gaussian envelope.</a:t>
            </a:r>
          </a:p>
        </p:txBody>
      </p:sp>
      <p:pic>
        <p:nvPicPr>
          <p:cNvPr id="5123" name="Picture 3" descr="Gabor Filter - an overview | ScienceDirect Topics">
            <a:extLst>
              <a:ext uri="{FF2B5EF4-FFF2-40B4-BE49-F238E27FC236}">
                <a16:creationId xmlns:a16="http://schemas.microsoft.com/office/drawing/2014/main" id="{CF95970B-052C-4C97-AF3E-EE5571FBB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287" y="1825625"/>
            <a:ext cx="4251294" cy="4115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1641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rawing">
            <a:extLst>
              <a:ext uri="{FF2B5EF4-FFF2-40B4-BE49-F238E27FC236}">
                <a16:creationId xmlns:a16="http://schemas.microsoft.com/office/drawing/2014/main" id="{AAA4F93E-1F9B-4C35-B843-AB5F43D3A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7650" y="734506"/>
            <a:ext cx="5896700" cy="5388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020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ow it works... - OpenCV 3 Computer Vision with Python Cookbook [Book]">
            <a:extLst>
              <a:ext uri="{FF2B5EF4-FFF2-40B4-BE49-F238E27FC236}">
                <a16:creationId xmlns:a16="http://schemas.microsoft.com/office/drawing/2014/main" id="{B847AAEC-B739-4940-B478-D2459D4CF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2273" y="1635133"/>
            <a:ext cx="10167453" cy="3587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760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1429C-47E8-40C7-B8BA-99C3FDAA6A0E}"/>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AC81C66B-8BD0-4492-8052-F10B8E75804A}"/>
              </a:ext>
            </a:extLst>
          </p:cNvPr>
          <p:cNvSpPr>
            <a:spLocks noGrp="1"/>
          </p:cNvSpPr>
          <p:nvPr>
            <p:ph idx="1"/>
          </p:nvPr>
        </p:nvSpPr>
        <p:spPr/>
        <p:txBody>
          <a:bodyPr/>
          <a:lstStyle/>
          <a:p>
            <a:endParaRPr lang="LID4096"/>
          </a:p>
        </p:txBody>
      </p:sp>
      <p:pic>
        <p:nvPicPr>
          <p:cNvPr id="7170" name="Picture 2" descr="Examples of Gabor filters and an image processed with them. | Download  Scientific Diagram">
            <a:extLst>
              <a:ext uri="{FF2B5EF4-FFF2-40B4-BE49-F238E27FC236}">
                <a16:creationId xmlns:a16="http://schemas.microsoft.com/office/drawing/2014/main" id="{D83CAA7C-1F56-4E43-93D7-2DBA3BAD3D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961" y="1069181"/>
            <a:ext cx="9690078" cy="471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946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2D75-4B86-4B2E-9008-3680E85D1E28}"/>
              </a:ext>
            </a:extLst>
          </p:cNvPr>
          <p:cNvSpPr>
            <a:spLocks noGrp="1"/>
          </p:cNvSpPr>
          <p:nvPr>
            <p:ph type="title"/>
          </p:nvPr>
        </p:nvSpPr>
        <p:spPr/>
        <p:txBody>
          <a:bodyPr/>
          <a:lstStyle/>
          <a:p>
            <a:r>
              <a:rPr lang="fr-CH" dirty="0" err="1"/>
              <a:t>Role</a:t>
            </a:r>
            <a:r>
              <a:rPr lang="fr-CH" dirty="0"/>
              <a:t> in Vision</a:t>
            </a:r>
            <a:endParaRPr lang="LID4096" dirty="0"/>
          </a:p>
        </p:txBody>
      </p:sp>
      <p:sp>
        <p:nvSpPr>
          <p:cNvPr id="3" name="Content Placeholder 2">
            <a:extLst>
              <a:ext uri="{FF2B5EF4-FFF2-40B4-BE49-F238E27FC236}">
                <a16:creationId xmlns:a16="http://schemas.microsoft.com/office/drawing/2014/main" id="{12233A0C-BC42-430F-B024-BB72601BBAA0}"/>
              </a:ext>
            </a:extLst>
          </p:cNvPr>
          <p:cNvSpPr>
            <a:spLocks noGrp="1"/>
          </p:cNvSpPr>
          <p:nvPr>
            <p:ph idx="1"/>
          </p:nvPr>
        </p:nvSpPr>
        <p:spPr>
          <a:xfrm>
            <a:off x="800839" y="1514907"/>
            <a:ext cx="10590320" cy="4351338"/>
          </a:xfrm>
        </p:spPr>
        <p:txBody>
          <a:bodyPr>
            <a:normAutofit/>
          </a:bodyPr>
          <a:lstStyle/>
          <a:p>
            <a:r>
              <a:rPr lang="en-US" dirty="0"/>
              <a:t>Gabor filters are thought to model the way the human visual system processes spatial and frequency information.</a:t>
            </a:r>
          </a:p>
          <a:p>
            <a:r>
              <a:rPr lang="en-US" dirty="0"/>
              <a:t>They mimic the receptive fields of neurons in the visual cortex, particularly those involved in edge detection and spatial frequency analysis.</a:t>
            </a:r>
          </a:p>
        </p:txBody>
      </p:sp>
      <p:pic>
        <p:nvPicPr>
          <p:cNvPr id="9219" name="Picture 3" descr="Gabor-filterbank convolution model of V1 cortex. The equation for any... |  Download Scientific Diagram">
            <a:extLst>
              <a:ext uri="{FF2B5EF4-FFF2-40B4-BE49-F238E27FC236}">
                <a16:creationId xmlns:a16="http://schemas.microsoft.com/office/drawing/2014/main" id="{69FBDBD4-B46B-4B9B-9CA8-6FCAFCF07A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308" y="3544410"/>
            <a:ext cx="6974797" cy="3101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793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AB13-FFE8-4D4F-8779-FC39FB1AB01D}"/>
              </a:ext>
            </a:extLst>
          </p:cNvPr>
          <p:cNvSpPr>
            <a:spLocks noGrp="1"/>
          </p:cNvSpPr>
          <p:nvPr>
            <p:ph type="title"/>
          </p:nvPr>
        </p:nvSpPr>
        <p:spPr>
          <a:xfrm>
            <a:off x="682471" y="223082"/>
            <a:ext cx="10827058" cy="1325563"/>
          </a:xfrm>
        </p:spPr>
        <p:txBody>
          <a:bodyPr/>
          <a:lstStyle/>
          <a:p>
            <a:r>
              <a:rPr lang="fr-CH" dirty="0" err="1"/>
              <a:t>Representational</a:t>
            </a:r>
            <a:r>
              <a:rPr lang="fr-CH" dirty="0"/>
              <a:t> </a:t>
            </a:r>
            <a:r>
              <a:rPr lang="fr-CH" dirty="0" err="1"/>
              <a:t>Dissimilarity</a:t>
            </a:r>
            <a:r>
              <a:rPr lang="fr-CH" dirty="0"/>
              <a:t> Matrices (</a:t>
            </a:r>
            <a:r>
              <a:rPr lang="fr-CH" dirty="0" err="1"/>
              <a:t>RDMs</a:t>
            </a:r>
            <a:r>
              <a:rPr lang="fr-CH" dirty="0"/>
              <a:t>) </a:t>
            </a:r>
            <a:endParaRPr lang="LID4096" dirty="0"/>
          </a:p>
        </p:txBody>
      </p:sp>
      <p:sp>
        <p:nvSpPr>
          <p:cNvPr id="3" name="Content Placeholder 2">
            <a:extLst>
              <a:ext uri="{FF2B5EF4-FFF2-40B4-BE49-F238E27FC236}">
                <a16:creationId xmlns:a16="http://schemas.microsoft.com/office/drawing/2014/main" id="{A0A2E19E-4EFD-463F-8760-2B15416E7469}"/>
              </a:ext>
            </a:extLst>
          </p:cNvPr>
          <p:cNvSpPr>
            <a:spLocks noGrp="1"/>
          </p:cNvSpPr>
          <p:nvPr>
            <p:ph idx="1"/>
          </p:nvPr>
        </p:nvSpPr>
        <p:spPr>
          <a:xfrm>
            <a:off x="5237826" y="1825625"/>
            <a:ext cx="6115974" cy="4351338"/>
          </a:xfrm>
        </p:spPr>
        <p:txBody>
          <a:bodyPr>
            <a:normAutofit fontScale="92500"/>
          </a:bodyPr>
          <a:lstStyle/>
          <a:p>
            <a:r>
              <a:rPr lang="en-US" dirty="0"/>
              <a:t>Tools used to measure the dissimilarity between different representations of stimuli in a high-dimensional space.</a:t>
            </a:r>
          </a:p>
          <a:p>
            <a:r>
              <a:rPr lang="en-US" dirty="0"/>
              <a:t>They capture the pairwise dissimilarities between different stimuli based on how they are represented in a given system (e.g., neural representations or computational models).</a:t>
            </a:r>
          </a:p>
          <a:p>
            <a:r>
              <a:rPr lang="en-US" dirty="0"/>
              <a:t>RDMs are often used to compare the similarity between different brain regions or models when processing similar inputs.</a:t>
            </a:r>
            <a:endParaRPr lang="LID4096" dirty="0"/>
          </a:p>
        </p:txBody>
      </p:sp>
      <p:pic>
        <p:nvPicPr>
          <p:cNvPr id="11266" name="Picture 2" descr="Representational similarity analysis">
            <a:extLst>
              <a:ext uri="{FF2B5EF4-FFF2-40B4-BE49-F238E27FC236}">
                <a16:creationId xmlns:a16="http://schemas.microsoft.com/office/drawing/2014/main" id="{922304AF-6027-422E-A126-A8B865CF5D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30" y="1984937"/>
            <a:ext cx="4753206" cy="3899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1565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73691-E59B-4064-89CD-598754A973B2}"/>
              </a:ext>
            </a:extLst>
          </p:cNvPr>
          <p:cNvSpPr>
            <a:spLocks noGrp="1"/>
          </p:cNvSpPr>
          <p:nvPr>
            <p:ph type="title"/>
          </p:nvPr>
        </p:nvSpPr>
        <p:spPr/>
        <p:txBody>
          <a:bodyPr/>
          <a:lstStyle/>
          <a:p>
            <a:endParaRPr lang="LID4096"/>
          </a:p>
        </p:txBody>
      </p:sp>
      <p:sp>
        <p:nvSpPr>
          <p:cNvPr id="3" name="Content Placeholder 2">
            <a:extLst>
              <a:ext uri="{FF2B5EF4-FFF2-40B4-BE49-F238E27FC236}">
                <a16:creationId xmlns:a16="http://schemas.microsoft.com/office/drawing/2014/main" id="{C64BEDA5-800E-48DA-9BA3-CF0BCD0B6CD9}"/>
              </a:ext>
            </a:extLst>
          </p:cNvPr>
          <p:cNvSpPr>
            <a:spLocks noGrp="1"/>
          </p:cNvSpPr>
          <p:nvPr>
            <p:ph idx="1"/>
          </p:nvPr>
        </p:nvSpPr>
        <p:spPr/>
        <p:txBody>
          <a:bodyPr/>
          <a:lstStyle/>
          <a:p>
            <a:endParaRPr lang="LID4096"/>
          </a:p>
        </p:txBody>
      </p:sp>
      <p:pic>
        <p:nvPicPr>
          <p:cNvPr id="10246" name="Picture 6">
            <a:extLst>
              <a:ext uri="{FF2B5EF4-FFF2-40B4-BE49-F238E27FC236}">
                <a16:creationId xmlns:a16="http://schemas.microsoft.com/office/drawing/2014/main" id="{46885883-D0F0-480B-B596-6245A869C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7850"/>
            <a:ext cx="12192000" cy="570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479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C7A5-2497-4844-9FBF-068EDF072FD8}"/>
              </a:ext>
            </a:extLst>
          </p:cNvPr>
          <p:cNvSpPr>
            <a:spLocks noGrp="1"/>
          </p:cNvSpPr>
          <p:nvPr>
            <p:ph type="title"/>
          </p:nvPr>
        </p:nvSpPr>
        <p:spPr/>
        <p:txBody>
          <a:bodyPr/>
          <a:lstStyle/>
          <a:p>
            <a:r>
              <a:rPr lang="fr-CH" dirty="0"/>
              <a:t>Questions?</a:t>
            </a:r>
            <a:endParaRPr lang="LID4096" dirty="0"/>
          </a:p>
        </p:txBody>
      </p:sp>
      <p:sp>
        <p:nvSpPr>
          <p:cNvPr id="3" name="Text Placeholder 2">
            <a:extLst>
              <a:ext uri="{FF2B5EF4-FFF2-40B4-BE49-F238E27FC236}">
                <a16:creationId xmlns:a16="http://schemas.microsoft.com/office/drawing/2014/main" id="{EA3A1293-C144-46AC-960C-E1B6A1E5C13C}"/>
              </a:ext>
            </a:extLst>
          </p:cNvPr>
          <p:cNvSpPr>
            <a:spLocks noGrp="1"/>
          </p:cNvSpPr>
          <p:nvPr>
            <p:ph type="body" idx="1"/>
          </p:nvPr>
        </p:nvSpPr>
        <p:spPr/>
        <p:txBody>
          <a:bodyPr/>
          <a:lstStyle/>
          <a:p>
            <a:endParaRPr lang="LID4096"/>
          </a:p>
        </p:txBody>
      </p:sp>
    </p:spTree>
    <p:extLst>
      <p:ext uri="{BB962C8B-B14F-4D97-AF65-F5344CB8AC3E}">
        <p14:creationId xmlns:p14="http://schemas.microsoft.com/office/powerpoint/2010/main" val="2054148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562</Words>
  <Application>Microsoft Office PowerPoint</Application>
  <PresentationFormat>Widescreen</PresentationFormat>
  <Paragraphs>24</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helvetica</vt:lpstr>
      <vt:lpstr>Roboto</vt:lpstr>
      <vt:lpstr>Office Theme</vt:lpstr>
      <vt:lpstr>Exercise 6</vt:lpstr>
      <vt:lpstr>Context of the Exercise</vt:lpstr>
      <vt:lpstr>Overview of  the visual system</vt:lpstr>
      <vt:lpstr>PowerPoint Presentation</vt:lpstr>
      <vt:lpstr>PowerPoint Presentation</vt:lpstr>
      <vt:lpstr>PowerPoint Presentation</vt:lpstr>
      <vt:lpstr>PowerPoint Presentation</vt:lpstr>
      <vt:lpstr>What are Gabor Filters?</vt:lpstr>
      <vt:lpstr>PowerPoint Presentation</vt:lpstr>
      <vt:lpstr>PowerPoint Presentation</vt:lpstr>
      <vt:lpstr>PowerPoint Presentation</vt:lpstr>
      <vt:lpstr>Role in Vision</vt:lpstr>
      <vt:lpstr>Representational Dissimilarity Matrices (RDMs) </vt:lpstr>
      <vt:lpstr>PowerPoint Presentation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 6</dc:title>
  <dc:creator>Alejandro Rodriguez Guajardo</dc:creator>
  <cp:lastModifiedBy>Alejandro Rodriguez Guajardo</cp:lastModifiedBy>
  <cp:revision>7</cp:revision>
  <dcterms:created xsi:type="dcterms:W3CDTF">2025-03-23T15:32:10Z</dcterms:created>
  <dcterms:modified xsi:type="dcterms:W3CDTF">2025-03-23T16:34:36Z</dcterms:modified>
</cp:coreProperties>
</file>